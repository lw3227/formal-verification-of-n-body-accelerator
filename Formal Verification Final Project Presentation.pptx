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Urbanist Medium"/>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UrbanistMedium-regular.fntdata"/><Relationship Id="rId21" Type="http://schemas.openxmlformats.org/officeDocument/2006/relationships/slide" Target="slides/slide16.xml"/><Relationship Id="rId24" Type="http://schemas.openxmlformats.org/officeDocument/2006/relationships/font" Target="fonts/UrbanistMedium-italic.fntdata"/><Relationship Id="rId23" Type="http://schemas.openxmlformats.org/officeDocument/2006/relationships/font" Target="fonts/Urbanist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Urbanist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1b21d8e4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1b21d8e4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1b21d8e4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1b21d8e4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1b21d8e4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1b21d8e4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1b21d8e4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1b21d8e4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1b21d8e4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b1b21d8e4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1b21d8e4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1b21d8e4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1b21d8e47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1b21d8e4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1b21d8e4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1b21d8e4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1bf737be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1bf737be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b1b21d8e47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b1b21d8e47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1cc3c69a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1cc3c69a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1bf737b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1bf737b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1bf737be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91bf737be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1cc3c69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1cc3c69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1bf737be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91bf737be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jpg"/><Relationship Id="rId4" Type="http://schemas.openxmlformats.org/officeDocument/2006/relationships/image" Target="../media/image1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0"/>
              </a:spcAft>
              <a:buClr>
                <a:schemeClr val="dk1"/>
              </a:buClr>
              <a:buSzPts val="1100"/>
              <a:buFont typeface="Arial"/>
              <a:buNone/>
            </a:pPr>
            <a:r>
              <a:rPr lang="en" sz="2600"/>
              <a:t>CSEE 6863 Formal Verification</a:t>
            </a:r>
            <a:endParaRPr sz="2600"/>
          </a:p>
          <a:p>
            <a:pPr indent="0" lvl="0" marL="0" rtl="0" algn="ctr">
              <a:lnSpc>
                <a:spcPct val="115000"/>
              </a:lnSpc>
              <a:spcBef>
                <a:spcPts val="300"/>
              </a:spcBef>
              <a:spcAft>
                <a:spcPts val="0"/>
              </a:spcAft>
              <a:buClr>
                <a:schemeClr val="dk1"/>
              </a:buClr>
              <a:buSzPts val="1100"/>
              <a:buFont typeface="Arial"/>
              <a:buNone/>
            </a:pPr>
            <a:r>
              <a:rPr lang="en" sz="2600"/>
              <a:t>Final Project</a:t>
            </a:r>
            <a:endParaRPr sz="2600"/>
          </a:p>
          <a:p>
            <a:pPr indent="0" lvl="0" marL="0" rtl="0" algn="ctr">
              <a:lnSpc>
                <a:spcPct val="115000"/>
              </a:lnSpc>
              <a:spcBef>
                <a:spcPts val="300"/>
              </a:spcBef>
              <a:spcAft>
                <a:spcPts val="300"/>
              </a:spcAft>
              <a:buClr>
                <a:schemeClr val="dk1"/>
              </a:buClr>
              <a:buSzPts val="1100"/>
              <a:buFont typeface="Arial"/>
              <a:buNone/>
            </a:pPr>
            <a:r>
              <a:rPr lang="en" sz="2600"/>
              <a:t>Verification of a N-Body Simulator Hardware Accelerator</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Kristian Nikolov (kdn2117)</a:t>
            </a:r>
            <a:endParaRPr sz="1100">
              <a:solidFill>
                <a:schemeClr val="dk1"/>
              </a:solidFill>
            </a:endParaRPr>
          </a:p>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Linxiao Wu (lw3227)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7575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a:t>
            </a:r>
            <a:endParaRPr/>
          </a:p>
        </p:txBody>
      </p:sp>
      <p:sp>
        <p:nvSpPr>
          <p:cNvPr id="61" name="Google Shape;61;p14"/>
          <p:cNvSpPr txBox="1"/>
          <p:nvPr>
            <p:ph idx="1" type="body"/>
          </p:nvPr>
        </p:nvSpPr>
        <p:spPr>
          <a:xfrm>
            <a:off x="275750" y="117042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N-Body Hardware Accelerator</a:t>
            </a:r>
            <a:endParaRPr sz="2200"/>
          </a:p>
          <a:p>
            <a:pPr indent="-368300" lvl="1" marL="914400" rtl="0" algn="l">
              <a:spcBef>
                <a:spcPts val="0"/>
              </a:spcBef>
              <a:spcAft>
                <a:spcPts val="0"/>
              </a:spcAft>
              <a:buSzPts val="2200"/>
              <a:buChar char="○"/>
            </a:pPr>
            <a:r>
              <a:rPr lang="en" sz="2200"/>
              <a:t>Actual student project: Very messy code!</a:t>
            </a:r>
            <a:endParaRPr sz="2200"/>
          </a:p>
          <a:p>
            <a:pPr indent="-368300" lvl="1" marL="914400" rtl="0" algn="l">
              <a:spcBef>
                <a:spcPts val="0"/>
              </a:spcBef>
              <a:spcAft>
                <a:spcPts val="0"/>
              </a:spcAft>
              <a:buSzPts val="2200"/>
              <a:buChar char="○"/>
            </a:pPr>
            <a:r>
              <a:rPr lang="en" sz="2200"/>
              <a:t>Mathematical correctness tested using simulation</a:t>
            </a:r>
            <a:endParaRPr sz="2200"/>
          </a:p>
          <a:p>
            <a:pPr indent="-368300" lvl="1" marL="914400" rtl="0" algn="l">
              <a:spcBef>
                <a:spcPts val="0"/>
              </a:spcBef>
              <a:spcAft>
                <a:spcPts val="0"/>
              </a:spcAft>
              <a:buSzPts val="2200"/>
              <a:buChar char="○"/>
            </a:pPr>
            <a:r>
              <a:rPr lang="en" sz="2200"/>
              <a:t>Project seems to behave as expected, does it always?</a:t>
            </a:r>
            <a:endParaRPr sz="2200"/>
          </a:p>
          <a:p>
            <a:pPr indent="-368300" lvl="0" marL="457200" rtl="0" algn="l">
              <a:spcBef>
                <a:spcPts val="0"/>
              </a:spcBef>
              <a:spcAft>
                <a:spcPts val="0"/>
              </a:spcAft>
              <a:buSzPts val="2200"/>
              <a:buChar char="●"/>
            </a:pPr>
            <a:r>
              <a:rPr lang="en" sz="2200"/>
              <a:t>External IP Blocks &amp; Parameters</a:t>
            </a:r>
            <a:endParaRPr sz="2200"/>
          </a:p>
          <a:p>
            <a:pPr indent="-368300" lvl="0" marL="457200" rtl="0" algn="l">
              <a:spcBef>
                <a:spcPts val="0"/>
              </a:spcBef>
              <a:spcAft>
                <a:spcPts val="0"/>
              </a:spcAft>
              <a:buSzPts val="2200"/>
              <a:buChar char="●"/>
            </a:pPr>
            <a:r>
              <a:rPr lang="en" sz="2200"/>
              <a:t>Required assumptions</a:t>
            </a:r>
            <a:endParaRPr sz="2200"/>
          </a:p>
          <a:p>
            <a:pPr indent="-368300" lvl="0" marL="457200" rtl="0" algn="l">
              <a:spcBef>
                <a:spcPts val="0"/>
              </a:spcBef>
              <a:spcAft>
                <a:spcPts val="0"/>
              </a:spcAft>
              <a:buSzPts val="2200"/>
              <a:buChar char="●"/>
            </a:pPr>
            <a:r>
              <a:rPr lang="en" sz="2200"/>
              <a:t>Verifying transition between states</a:t>
            </a:r>
            <a:endParaRPr sz="2200"/>
          </a:p>
          <a:p>
            <a:pPr indent="-368300" lvl="0" marL="457200" rtl="0" algn="l">
              <a:spcBef>
                <a:spcPts val="0"/>
              </a:spcBef>
              <a:spcAft>
                <a:spcPts val="0"/>
              </a:spcAft>
              <a:buSzPts val="2200"/>
              <a:buChar char="●"/>
            </a:pPr>
            <a:r>
              <a:rPr lang="en" sz="2200"/>
              <a:t>Discovery of Errors</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title="datapath.jpg"/>
          <p:cNvPicPr preferRelativeResize="0"/>
          <p:nvPr/>
        </p:nvPicPr>
        <p:blipFill>
          <a:blip r:embed="rId3">
            <a:alphaModFix/>
          </a:blip>
          <a:stretch>
            <a:fillRect/>
          </a:stretch>
        </p:blipFill>
        <p:spPr>
          <a:xfrm>
            <a:off x="1717850" y="121377"/>
            <a:ext cx="5425224" cy="49007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6" title="n-body-overview.drawio.png"/>
          <p:cNvPicPr preferRelativeResize="0"/>
          <p:nvPr/>
        </p:nvPicPr>
        <p:blipFill>
          <a:blip r:embed="rId3">
            <a:alphaModFix/>
          </a:blip>
          <a:stretch>
            <a:fillRect/>
          </a:stretch>
        </p:blipFill>
        <p:spPr>
          <a:xfrm>
            <a:off x="1320631" y="1059894"/>
            <a:ext cx="5915025" cy="3533775"/>
          </a:xfrm>
          <a:prstGeom prst="rect">
            <a:avLst/>
          </a:prstGeom>
          <a:noFill/>
          <a:ln>
            <a:noFill/>
          </a:ln>
        </p:spPr>
      </p:pic>
      <p:sp>
        <p:nvSpPr>
          <p:cNvPr id="72" name="Google Shape;72;p16"/>
          <p:cNvSpPr txBox="1"/>
          <p:nvPr>
            <p:ph idx="4294967295" type="title"/>
          </p:nvPr>
        </p:nvSpPr>
        <p:spPr>
          <a:xfrm>
            <a:off x="275750" y="27430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None/>
            </a:pPr>
            <a:r>
              <a:rPr lang="en" sz="3400">
                <a:solidFill>
                  <a:srgbClr val="F5F5F5"/>
                </a:solidFill>
                <a:latin typeface="Urbanist Medium"/>
                <a:ea typeface="Urbanist Medium"/>
                <a:cs typeface="Urbanist Medium"/>
                <a:sym typeface="Urbanist Medium"/>
              </a:rPr>
              <a:t>High Level State machine overview</a:t>
            </a:r>
            <a:endParaRPr sz="3400">
              <a:solidFill>
                <a:srgbClr val="F5F5F5"/>
              </a:solidFill>
              <a:latin typeface="Urbanist Medium"/>
              <a:ea typeface="Urbanist Medium"/>
              <a:cs typeface="Urbanist Medium"/>
              <a:sym typeface="Urbanist Medium"/>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275750" y="27430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None/>
            </a:pPr>
            <a:r>
              <a:rPr lang="en" sz="3400">
                <a:solidFill>
                  <a:srgbClr val="F5F5F5"/>
                </a:solidFill>
                <a:latin typeface="Urbanist Medium"/>
                <a:ea typeface="Urbanist Medium"/>
                <a:cs typeface="Urbanist Medium"/>
                <a:sym typeface="Urbanist Medium"/>
              </a:rPr>
              <a:t>Calculating Acceleration and Velocity</a:t>
            </a:r>
            <a:endParaRPr sz="3400">
              <a:solidFill>
                <a:srgbClr val="F5F5F5"/>
              </a:solidFill>
              <a:latin typeface="Urbanist Medium"/>
              <a:ea typeface="Urbanist Medium"/>
              <a:cs typeface="Urbanist Medium"/>
              <a:sym typeface="Urbanist Medium"/>
            </a:endParaRPr>
          </a:p>
          <a:p>
            <a:pPr indent="0" lvl="0" marL="0" rtl="0" algn="l">
              <a:spcBef>
                <a:spcPts val="0"/>
              </a:spcBef>
              <a:spcAft>
                <a:spcPts val="0"/>
              </a:spcAft>
              <a:buNone/>
            </a:pPr>
            <a:r>
              <a:t/>
            </a:r>
            <a:endParaRPr/>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9" name="Google Shape;79;p17" title="calc_accl.jpg"/>
          <p:cNvPicPr preferRelativeResize="0"/>
          <p:nvPr/>
        </p:nvPicPr>
        <p:blipFill>
          <a:blip r:embed="rId3">
            <a:alphaModFix/>
          </a:blip>
          <a:stretch>
            <a:fillRect/>
          </a:stretch>
        </p:blipFill>
        <p:spPr>
          <a:xfrm>
            <a:off x="181650" y="927875"/>
            <a:ext cx="4390350" cy="4095065"/>
          </a:xfrm>
          <a:prstGeom prst="rect">
            <a:avLst/>
          </a:prstGeom>
          <a:noFill/>
          <a:ln>
            <a:noFill/>
          </a:ln>
        </p:spPr>
      </p:pic>
      <p:pic>
        <p:nvPicPr>
          <p:cNvPr id="80" name="Google Shape;80;p17" title="getAccl.jpg"/>
          <p:cNvPicPr preferRelativeResize="0"/>
          <p:nvPr/>
        </p:nvPicPr>
        <p:blipFill>
          <a:blip r:embed="rId4">
            <a:alphaModFix/>
          </a:blip>
          <a:stretch>
            <a:fillRect/>
          </a:stretch>
        </p:blipFill>
        <p:spPr>
          <a:xfrm>
            <a:off x="5041248" y="890825"/>
            <a:ext cx="3675426" cy="4095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310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Update Position</a:t>
            </a:r>
            <a:endParaRPr/>
          </a:p>
        </p:txBody>
      </p:sp>
      <p:sp>
        <p:nvSpPr>
          <p:cNvPr id="86" name="Google Shape;86;p18"/>
          <p:cNvSpPr txBox="1"/>
          <p:nvPr>
            <p:ph idx="1" type="body"/>
          </p:nvPr>
        </p:nvSpPr>
        <p:spPr>
          <a:xfrm>
            <a:off x="6167300" y="1152475"/>
            <a:ext cx="2664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Simple loop to add velocity to position.</a:t>
            </a:r>
            <a:endParaRPr/>
          </a:p>
          <a:p>
            <a:pPr indent="0" lvl="0" marL="0" rtl="0" algn="l">
              <a:spcBef>
                <a:spcPts val="1200"/>
              </a:spcBef>
              <a:spcAft>
                <a:spcPts val="1200"/>
              </a:spcAft>
              <a:buNone/>
            </a:pPr>
            <a:r>
              <a:rPr lang="en"/>
              <a:t>We are working with timesteps of 1s, thus the velocity can be directly added to position.</a:t>
            </a:r>
            <a:endParaRPr/>
          </a:p>
        </p:txBody>
      </p:sp>
      <p:pic>
        <p:nvPicPr>
          <p:cNvPr id="87" name="Google Shape;87;p18" title="update_pos.jpg"/>
          <p:cNvPicPr preferRelativeResize="0"/>
          <p:nvPr/>
        </p:nvPicPr>
        <p:blipFill>
          <a:blip r:embed="rId3">
            <a:alphaModFix/>
          </a:blip>
          <a:stretch>
            <a:fillRect/>
          </a:stretch>
        </p:blipFill>
        <p:spPr>
          <a:xfrm>
            <a:off x="311700" y="1071125"/>
            <a:ext cx="5513926" cy="3903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 bench nightmare</a:t>
            </a:r>
            <a:endParaRPr/>
          </a:p>
        </p:txBody>
      </p:sp>
      <p:sp>
        <p:nvSpPr>
          <p:cNvPr id="93" name="Google Shape;93;p19"/>
          <p:cNvSpPr txBox="1"/>
          <p:nvPr>
            <p:ph idx="1" type="body"/>
          </p:nvPr>
        </p:nvSpPr>
        <p:spPr>
          <a:xfrm>
            <a:off x="311700" y="2782625"/>
            <a:ext cx="8520600" cy="178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Although we now have similarly complex stack traces, they are limited to sections with errors, and the exact violation is shown, no more hours of adding in extra print statements and scrolling through signals</a:t>
            </a:r>
            <a:endParaRPr/>
          </a:p>
        </p:txBody>
      </p:sp>
      <p:pic>
        <p:nvPicPr>
          <p:cNvPr id="94" name="Google Shape;94;p19" title="Screenshot from 2025-05-14 01-06-53.png"/>
          <p:cNvPicPr preferRelativeResize="0"/>
          <p:nvPr/>
        </p:nvPicPr>
        <p:blipFill>
          <a:blip r:embed="rId3">
            <a:alphaModFix/>
          </a:blip>
          <a:stretch>
            <a:fillRect/>
          </a:stretch>
        </p:blipFill>
        <p:spPr>
          <a:xfrm>
            <a:off x="96050" y="1152475"/>
            <a:ext cx="8839199" cy="15616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525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External IP &amp; Params</a:t>
            </a:r>
            <a:endParaRPr/>
          </a:p>
        </p:txBody>
      </p:sp>
      <p:sp>
        <p:nvSpPr>
          <p:cNvPr id="100" name="Google Shape;100;p20"/>
          <p:cNvSpPr txBox="1"/>
          <p:nvPr>
            <p:ph idx="1" type="body"/>
          </p:nvPr>
        </p:nvSpPr>
        <p:spPr>
          <a:xfrm>
            <a:off x="311700" y="3160025"/>
            <a:ext cx="8520600" cy="1408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 point in verifying IP Blocks</a:t>
            </a:r>
            <a:endParaRPr/>
          </a:p>
          <a:p>
            <a:pPr indent="-342900" lvl="0" marL="457200" rtl="0" algn="l">
              <a:spcBef>
                <a:spcPts val="0"/>
              </a:spcBef>
              <a:spcAft>
                <a:spcPts val="0"/>
              </a:spcAft>
              <a:buSzPts val="1800"/>
              <a:buChar char="●"/>
            </a:pPr>
            <a:r>
              <a:rPr lang="en"/>
              <a:t>Parameters not only significantly reduce runtime, but even prevent JG from blackboxing the shift registers</a:t>
            </a:r>
            <a:endParaRPr/>
          </a:p>
        </p:txBody>
      </p:sp>
      <p:pic>
        <p:nvPicPr>
          <p:cNvPr id="101" name="Google Shape;101;p20" title="Screenshot from 2025-12-18 16-35-32.png"/>
          <p:cNvPicPr preferRelativeResize="0"/>
          <p:nvPr/>
        </p:nvPicPr>
        <p:blipFill>
          <a:blip r:embed="rId3">
            <a:alphaModFix/>
          </a:blip>
          <a:stretch>
            <a:fillRect/>
          </a:stretch>
        </p:blipFill>
        <p:spPr>
          <a:xfrm>
            <a:off x="734025" y="1314225"/>
            <a:ext cx="7877175" cy="1695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Without parameters to reduce shifter size</a:t>
            </a:r>
            <a:endParaRPr/>
          </a:p>
        </p:txBody>
      </p:sp>
      <p:sp>
        <p:nvSpPr>
          <p:cNvPr id="107" name="Google Shape;107;p21"/>
          <p:cNvSpPr txBox="1"/>
          <p:nvPr>
            <p:ph idx="1" type="body"/>
          </p:nvPr>
        </p:nvSpPr>
        <p:spPr>
          <a:xfrm>
            <a:off x="5232750" y="1152475"/>
            <a:ext cx="3599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JG Automatically black boxes shift registers</a:t>
            </a:r>
            <a:endParaRPr/>
          </a:p>
        </p:txBody>
      </p:sp>
      <p:pic>
        <p:nvPicPr>
          <p:cNvPr id="108" name="Google Shape;108;p21" title="Screenshot from 2025-12-18 17-36-08.png"/>
          <p:cNvPicPr preferRelativeResize="0"/>
          <p:nvPr/>
        </p:nvPicPr>
        <p:blipFill>
          <a:blip r:embed="rId3">
            <a:alphaModFix/>
          </a:blip>
          <a:stretch>
            <a:fillRect/>
          </a:stretch>
        </p:blipFill>
        <p:spPr>
          <a:xfrm>
            <a:off x="311688" y="1250788"/>
            <a:ext cx="4543425" cy="2847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JG Proof Orchestration</a:t>
            </a:r>
            <a:endParaRPr/>
          </a:p>
        </p:txBody>
      </p:sp>
      <p:sp>
        <p:nvSpPr>
          <p:cNvPr id="114" name="Google Shape;114;p22"/>
          <p:cNvSpPr txBox="1"/>
          <p:nvPr>
            <p:ph idx="1" type="body"/>
          </p:nvPr>
        </p:nvSpPr>
        <p:spPr>
          <a:xfrm>
            <a:off x="311700" y="1152475"/>
            <a:ext cx="4260300" cy="1612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 interesting phenomenon is to see an assertion push the limits of bounded model checking (Bm)</a:t>
            </a:r>
            <a:endParaRPr/>
          </a:p>
          <a:p>
            <a:pPr indent="0" lvl="0" marL="0" rtl="0" algn="l">
              <a:spcBef>
                <a:spcPts val="1200"/>
              </a:spcBef>
              <a:spcAft>
                <a:spcPts val="1200"/>
              </a:spcAft>
              <a:buNone/>
            </a:pPr>
            <a:r>
              <a:t/>
            </a:r>
            <a:endParaRPr/>
          </a:p>
        </p:txBody>
      </p:sp>
      <p:pic>
        <p:nvPicPr>
          <p:cNvPr id="115" name="Google Shape;115;p22" title="Screenshot from 2025-12-18 14-11-14.png"/>
          <p:cNvPicPr preferRelativeResize="0"/>
          <p:nvPr/>
        </p:nvPicPr>
        <p:blipFill>
          <a:blip r:embed="rId3">
            <a:alphaModFix/>
          </a:blip>
          <a:stretch>
            <a:fillRect/>
          </a:stretch>
        </p:blipFill>
        <p:spPr>
          <a:xfrm>
            <a:off x="388163" y="2899225"/>
            <a:ext cx="8218364" cy="287975"/>
          </a:xfrm>
          <a:prstGeom prst="rect">
            <a:avLst/>
          </a:prstGeom>
          <a:noFill/>
          <a:ln>
            <a:noFill/>
          </a:ln>
        </p:spPr>
      </p:pic>
      <p:pic>
        <p:nvPicPr>
          <p:cNvPr id="116" name="Google Shape;116;p22" title="Screenshot from 2025-12-18 14-12-34.png"/>
          <p:cNvPicPr preferRelativeResize="0"/>
          <p:nvPr/>
        </p:nvPicPr>
        <p:blipFill>
          <a:blip r:embed="rId4">
            <a:alphaModFix/>
          </a:blip>
          <a:stretch>
            <a:fillRect/>
          </a:stretch>
        </p:blipFill>
        <p:spPr>
          <a:xfrm>
            <a:off x="388401" y="4379325"/>
            <a:ext cx="8217900" cy="287975"/>
          </a:xfrm>
          <a:prstGeom prst="rect">
            <a:avLst/>
          </a:prstGeom>
          <a:noFill/>
          <a:ln>
            <a:noFill/>
          </a:ln>
        </p:spPr>
      </p:pic>
      <p:pic>
        <p:nvPicPr>
          <p:cNvPr id="117" name="Google Shape;117;p22" title="Screenshot from 2025-12-18 14-21-43.png"/>
          <p:cNvPicPr preferRelativeResize="0"/>
          <p:nvPr/>
        </p:nvPicPr>
        <p:blipFill>
          <a:blip r:embed="rId5">
            <a:alphaModFix/>
          </a:blip>
          <a:stretch>
            <a:fillRect/>
          </a:stretch>
        </p:blipFill>
        <p:spPr>
          <a:xfrm>
            <a:off x="4727025" y="1152472"/>
            <a:ext cx="4105275" cy="1482875"/>
          </a:xfrm>
          <a:prstGeom prst="rect">
            <a:avLst/>
          </a:prstGeom>
          <a:noFill/>
          <a:ln>
            <a:noFill/>
          </a:ln>
        </p:spPr>
      </p:pic>
      <p:sp>
        <p:nvSpPr>
          <p:cNvPr id="118" name="Google Shape;118;p22"/>
          <p:cNvSpPr txBox="1"/>
          <p:nvPr/>
        </p:nvSpPr>
        <p:spPr>
          <a:xfrm>
            <a:off x="778700" y="3321750"/>
            <a:ext cx="7437300" cy="8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After running for 4 minutes, the Proof Orchestration switches the engine to Model Checking (M) and finds a proves the property within 9.2 seconds</a:t>
            </a:r>
            <a:endParaRPr sz="1800">
              <a:solidFill>
                <a:schemeClr val="l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Even more extreme examples and custom </a:t>
            </a:r>
            <a:endParaRPr/>
          </a:p>
        </p:txBody>
      </p:sp>
      <p:sp>
        <p:nvSpPr>
          <p:cNvPr id="124" name="Google Shape;124;p23"/>
          <p:cNvSpPr txBox="1"/>
          <p:nvPr>
            <p:ph idx="1" type="body"/>
          </p:nvPr>
        </p:nvSpPr>
        <p:spPr>
          <a:xfrm>
            <a:off x="4621725" y="2473050"/>
            <a:ext cx="4210500" cy="2095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Initially uses Bm engine, and runs for over 14 minutes, using up over 16Gb (!!!) of Memory before deciding to switch to a custom</a:t>
            </a:r>
            <a:endParaRPr/>
          </a:p>
        </p:txBody>
      </p:sp>
      <p:pic>
        <p:nvPicPr>
          <p:cNvPr id="125" name="Google Shape;125;p23" title="Screenshot from 2025-12-18 16-30-57.png"/>
          <p:cNvPicPr preferRelativeResize="0"/>
          <p:nvPr/>
        </p:nvPicPr>
        <p:blipFill>
          <a:blip r:embed="rId3">
            <a:alphaModFix/>
          </a:blip>
          <a:stretch>
            <a:fillRect/>
          </a:stretch>
        </p:blipFill>
        <p:spPr>
          <a:xfrm>
            <a:off x="172975" y="1980625"/>
            <a:ext cx="8798051" cy="235471"/>
          </a:xfrm>
          <a:prstGeom prst="rect">
            <a:avLst/>
          </a:prstGeom>
          <a:noFill/>
          <a:ln>
            <a:noFill/>
          </a:ln>
        </p:spPr>
      </p:pic>
      <p:pic>
        <p:nvPicPr>
          <p:cNvPr id="126" name="Google Shape;126;p23" title="Screenshot from 2025-12-18 16-06-44.png"/>
          <p:cNvPicPr preferRelativeResize="0"/>
          <p:nvPr/>
        </p:nvPicPr>
        <p:blipFill>
          <a:blip r:embed="rId4">
            <a:alphaModFix/>
          </a:blip>
          <a:stretch>
            <a:fillRect/>
          </a:stretch>
        </p:blipFill>
        <p:spPr>
          <a:xfrm>
            <a:off x="47925" y="1224375"/>
            <a:ext cx="8938476" cy="499300"/>
          </a:xfrm>
          <a:prstGeom prst="rect">
            <a:avLst/>
          </a:prstGeom>
          <a:noFill/>
          <a:ln>
            <a:noFill/>
          </a:ln>
        </p:spPr>
      </p:pic>
      <p:pic>
        <p:nvPicPr>
          <p:cNvPr id="127" name="Google Shape;127;p23" title="Screenshot from 2025-12-18 16-05-02.png"/>
          <p:cNvPicPr preferRelativeResize="0"/>
          <p:nvPr/>
        </p:nvPicPr>
        <p:blipFill>
          <a:blip r:embed="rId5">
            <a:alphaModFix/>
          </a:blip>
          <a:stretch>
            <a:fillRect/>
          </a:stretch>
        </p:blipFill>
        <p:spPr>
          <a:xfrm>
            <a:off x="311700" y="2934596"/>
            <a:ext cx="3848100" cy="1381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Assumptions for proper </a:t>
            </a:r>
            <a:r>
              <a:rPr lang="en"/>
              <a:t>input</a:t>
            </a:r>
            <a:r>
              <a:rPr lang="en"/>
              <a:t> behavior</a:t>
            </a:r>
            <a:endParaRPr/>
          </a:p>
        </p:txBody>
      </p:sp>
      <p:sp>
        <p:nvSpPr>
          <p:cNvPr id="133" name="Google Shape;13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Write should only happens under the stage SW_READ_WRITE</a:t>
            </a:r>
            <a:endParaRPr/>
          </a:p>
          <a:p>
            <a:pPr indent="-342900" lvl="0" marL="457200" rtl="0" algn="l">
              <a:spcBef>
                <a:spcPts val="0"/>
              </a:spcBef>
              <a:spcAft>
                <a:spcPts val="0"/>
              </a:spcAft>
              <a:buSzPts val="1800"/>
              <a:buAutoNum type="arabicPeriod"/>
            </a:pPr>
            <a:r>
              <a:rPr lang="en"/>
              <a:t>configuration parameters num_bodies and gap remain unchanged while the accelerator is running</a:t>
            </a:r>
            <a:endParaRPr/>
          </a:p>
          <a:p>
            <a:pPr indent="-342900" lvl="0" marL="457200" rtl="0" algn="l">
              <a:spcBef>
                <a:spcPts val="0"/>
              </a:spcBef>
              <a:spcAft>
                <a:spcPts val="0"/>
              </a:spcAft>
              <a:buSzPts val="1800"/>
              <a:buAutoNum type="arabicPeriod"/>
            </a:pPr>
            <a:r>
              <a:rPr lang="en"/>
              <a:t>Whenever the hardware asserts done, the software will eventually issue a read request (read_sw) within 1 to 500 cycles</a:t>
            </a:r>
            <a:endParaRPr/>
          </a:p>
          <a:p>
            <a:pPr indent="-342900" lvl="0" marL="457200" rtl="0" algn="l">
              <a:spcBef>
                <a:spcPts val="0"/>
              </a:spcBef>
              <a:spcAft>
                <a:spcPts val="0"/>
              </a:spcAft>
              <a:buSzPts val="1800"/>
              <a:buAutoNum type="arabicPeriod"/>
            </a:pPr>
            <a:r>
              <a:rPr lang="en"/>
              <a:t> Read is set high only in the stage SW_READ_WRITE</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5" title="Screenshot from 2025-12-18 13-31-01.png"/>
          <p:cNvPicPr preferRelativeResize="0"/>
          <p:nvPr/>
        </p:nvPicPr>
        <p:blipFill>
          <a:blip r:embed="rId3">
            <a:alphaModFix/>
          </a:blip>
          <a:stretch>
            <a:fillRect/>
          </a:stretch>
        </p:blipFill>
        <p:spPr>
          <a:xfrm>
            <a:off x="311700" y="1295813"/>
            <a:ext cx="5943600" cy="1343025"/>
          </a:xfrm>
          <a:prstGeom prst="rect">
            <a:avLst/>
          </a:prstGeom>
          <a:noFill/>
          <a:ln>
            <a:noFill/>
          </a:ln>
        </p:spPr>
      </p:pic>
      <p:sp>
        <p:nvSpPr>
          <p:cNvPr id="139" name="Google Shape;13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Debugging: Abort </a:t>
            </a:r>
            <a:endParaRPr/>
          </a:p>
        </p:txBody>
      </p:sp>
      <p:pic>
        <p:nvPicPr>
          <p:cNvPr id="140" name="Google Shape;140;p25" title="Screenshot from 2025-12-18 13-39-04.png"/>
          <p:cNvPicPr preferRelativeResize="0"/>
          <p:nvPr/>
        </p:nvPicPr>
        <p:blipFill>
          <a:blip r:embed="rId4">
            <a:alphaModFix/>
          </a:blip>
          <a:stretch>
            <a:fillRect/>
          </a:stretch>
        </p:blipFill>
        <p:spPr>
          <a:xfrm>
            <a:off x="152400" y="3366338"/>
            <a:ext cx="8839199" cy="116268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6" title="Screenshot from 2025-12-18 13-29-42.png"/>
          <p:cNvPicPr preferRelativeResize="0"/>
          <p:nvPr/>
        </p:nvPicPr>
        <p:blipFill>
          <a:blip r:embed="rId3">
            <a:alphaModFix/>
          </a:blip>
          <a:stretch>
            <a:fillRect/>
          </a:stretch>
        </p:blipFill>
        <p:spPr>
          <a:xfrm>
            <a:off x="72675" y="86975"/>
            <a:ext cx="6403876" cy="4969550"/>
          </a:xfrm>
          <a:prstGeom prst="rect">
            <a:avLst/>
          </a:prstGeom>
          <a:noFill/>
          <a:ln>
            <a:noFill/>
          </a:ln>
        </p:spPr>
      </p:pic>
      <p:sp>
        <p:nvSpPr>
          <p:cNvPr id="146" name="Google Shape;146;p26"/>
          <p:cNvSpPr/>
          <p:nvPr/>
        </p:nvSpPr>
        <p:spPr>
          <a:xfrm>
            <a:off x="281550" y="787750"/>
            <a:ext cx="2318400" cy="5121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6"/>
          <p:cNvSpPr/>
          <p:nvPr/>
        </p:nvSpPr>
        <p:spPr>
          <a:xfrm>
            <a:off x="883250" y="3276475"/>
            <a:ext cx="3037500" cy="13752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6"/>
          <p:cNvSpPr txBox="1"/>
          <p:nvPr/>
        </p:nvSpPr>
        <p:spPr>
          <a:xfrm>
            <a:off x="6677725" y="406200"/>
            <a:ext cx="2193900" cy="43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Missing a single else statement here leads to a scenario where go == 0, state is set to SW_READ_WRITE, and in the same clock cycle, we have finished updating positions and go back to calc_accel</a:t>
            </a:r>
            <a:endParaRPr sz="1800">
              <a:solidFill>
                <a:schemeClr val="l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ph type="title"/>
          </p:nvPr>
        </p:nvSpPr>
        <p:spPr>
          <a:xfrm>
            <a:off x="395625" y="139800"/>
            <a:ext cx="6059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2 key property for shift register</a:t>
            </a:r>
            <a:endParaRPr/>
          </a:p>
        </p:txBody>
      </p:sp>
      <p:sp>
        <p:nvSpPr>
          <p:cNvPr id="154" name="Google Shape;154;p27"/>
          <p:cNvSpPr txBox="1"/>
          <p:nvPr>
            <p:ph idx="1" type="body"/>
          </p:nvPr>
        </p:nvSpPr>
        <p:spPr>
          <a:xfrm>
            <a:off x="5855675" y="982900"/>
            <a:ext cx="3063600" cy="3416400"/>
          </a:xfrm>
          <a:prstGeom prst="rect">
            <a:avLst/>
          </a:prstGeom>
        </p:spPr>
        <p:txBody>
          <a:bodyPr anchorCtr="0" anchor="t" bIns="91425" lIns="91425" spcFirstLastPara="1" rIns="91425" wrap="square" tIns="91425">
            <a:normAutofit/>
          </a:bodyPr>
          <a:lstStyle/>
          <a:p>
            <a:pPr indent="-387350" lvl="0" marL="457200" rtl="0" algn="l">
              <a:spcBef>
                <a:spcPts val="0"/>
              </a:spcBef>
              <a:spcAft>
                <a:spcPts val="0"/>
              </a:spcAft>
              <a:buSzPts val="2500"/>
              <a:buAutoNum type="arabicPeriod"/>
            </a:pPr>
            <a:r>
              <a:rPr lang="en"/>
              <a:t>Register-to-register shifting is correct.</a:t>
            </a:r>
            <a:endParaRPr/>
          </a:p>
          <a:p>
            <a:pPr indent="-387350" lvl="0" marL="457200" rtl="0" algn="l">
              <a:spcBef>
                <a:spcPts val="0"/>
              </a:spcBef>
              <a:spcAft>
                <a:spcPts val="0"/>
              </a:spcAft>
              <a:buSzPts val="2500"/>
              <a:buAutoNum type="arabicPeriod"/>
            </a:pPr>
            <a:r>
              <a:rPr lang="en"/>
              <a:t>The shift register implements the expected delay.</a:t>
            </a:r>
            <a:endParaRPr sz="2500"/>
          </a:p>
        </p:txBody>
      </p:sp>
      <p:pic>
        <p:nvPicPr>
          <p:cNvPr id="155" name="Google Shape;155;p27"/>
          <p:cNvPicPr preferRelativeResize="0"/>
          <p:nvPr/>
        </p:nvPicPr>
        <p:blipFill>
          <a:blip r:embed="rId3">
            <a:alphaModFix/>
          </a:blip>
          <a:stretch>
            <a:fillRect/>
          </a:stretch>
        </p:blipFill>
        <p:spPr>
          <a:xfrm>
            <a:off x="254125" y="695925"/>
            <a:ext cx="5337976" cy="3751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 &amp; Work to be done</a:t>
            </a:r>
            <a:endParaRPr/>
          </a:p>
        </p:txBody>
      </p:sp>
      <p:sp>
        <p:nvSpPr>
          <p:cNvPr id="161" name="Google Shape;16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Work can be done on mathematical </a:t>
            </a:r>
            <a:r>
              <a:rPr lang="en"/>
              <a:t>correctness</a:t>
            </a:r>
            <a:r>
              <a:rPr lang="en"/>
              <a:t>:</a:t>
            </a:r>
            <a:endParaRPr/>
          </a:p>
          <a:p>
            <a:pPr indent="-317500" lvl="1" marL="914400" rtl="0" algn="l">
              <a:spcBef>
                <a:spcPts val="0"/>
              </a:spcBef>
              <a:spcAft>
                <a:spcPts val="0"/>
              </a:spcAft>
              <a:buSzPts val="1400"/>
              <a:buChar char="○"/>
            </a:pPr>
            <a:r>
              <a:rPr lang="en"/>
              <a:t>Direct Programming Interface</a:t>
            </a:r>
            <a:endParaRPr/>
          </a:p>
          <a:p>
            <a:pPr indent="-317500" lvl="1" marL="914400" rtl="0" algn="l">
              <a:spcBef>
                <a:spcPts val="0"/>
              </a:spcBef>
              <a:spcAft>
                <a:spcPts val="0"/>
              </a:spcAft>
              <a:buSzPts val="1400"/>
              <a:buChar char="○"/>
            </a:pPr>
            <a:r>
              <a:rPr lang="en"/>
              <a:t>Jasper Gold C App</a:t>
            </a:r>
            <a:endParaRPr/>
          </a:p>
          <a:p>
            <a:pPr indent="-342900" lvl="0" marL="457200" rtl="0" algn="l">
              <a:spcBef>
                <a:spcPts val="0"/>
              </a:spcBef>
              <a:spcAft>
                <a:spcPts val="0"/>
              </a:spcAft>
              <a:buSzPts val="1800"/>
              <a:buChar char="●"/>
            </a:pPr>
            <a:r>
              <a:rPr lang="en"/>
              <a:t>Latency checking for pipeline implementation</a:t>
            </a:r>
            <a:endParaRPr/>
          </a:p>
          <a:p>
            <a:pPr indent="-317500" lvl="1" marL="914400" rtl="0" algn="l">
              <a:spcBef>
                <a:spcPts val="0"/>
              </a:spcBef>
              <a:spcAft>
                <a:spcPts val="0"/>
              </a:spcAft>
              <a:buSzPts val="1400"/>
              <a:buChar char="○"/>
            </a:pPr>
            <a:r>
              <a:rPr lang="en"/>
              <a:t>Using </a:t>
            </a:r>
            <a:r>
              <a:rPr lang="en"/>
              <a:t>assumption to set delay for the black box, and check the timing for the datapath</a:t>
            </a:r>
            <a:endParaRPr/>
          </a:p>
          <a:p>
            <a:pPr indent="-342900" lvl="0" marL="457200" rtl="0" algn="l">
              <a:spcBef>
                <a:spcPts val="0"/>
              </a:spcBef>
              <a:spcAft>
                <a:spcPts val="0"/>
              </a:spcAft>
              <a:buSzPts val="1800"/>
              <a:buChar char="●"/>
            </a:pPr>
            <a:r>
              <a:rPr lang="en"/>
              <a:t>Could move towards using specific proof engines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